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640080"/>
            <a:ext cx="1399082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MOC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59E0B"/>
                </a:solidFill>
                <a:latin typeface="Calibri"/>
              </a:rPr>
              <a:t>Management of Change — MSP-HSE-08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F1F5F9"/>
                </a:solidFill>
                <a:latin typeface="Calibri"/>
              </a:rPr>
              <a:t>A digital platform for safe, auditable change at Mari Energies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18304" y="4754880"/>
            <a:ext cx="27432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4773168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mari.proflowenergy.org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Why we need a digital MOC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716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41732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MSP-HSE-08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8288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How we map to the 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060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5176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Solution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06324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Platform at a glance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14600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060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65176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Core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06324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What it does end-to-end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49039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840479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886199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Hierarchy &amp;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297679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Approval chains &amp; delegation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49039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840479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886199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Forms &amp;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4297679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Annexure H, Minute Sheet, Audit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83480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07492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120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Security &amp; 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5321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Stack, deployment, controls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983480"/>
            <a:ext cx="539496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98348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07492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5120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Roadmap &amp; Q&amp;A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55321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What's next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Problem with Paper-based MOC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2331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Lost paperwork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Forms get misfiled. Approvals stall for weeks.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657600" cy="2331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Who approved what, when? Hard to reconstruct.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657600" cy="2331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32588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Manual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Routing forms by hand — error prone &amp; slow.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79"/>
            <a:ext cx="3657600" cy="2331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79"/>
            <a:ext cx="3657600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199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No KPIs, no closure timing, no trend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40479"/>
            <a:ext cx="3657600" cy="2331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840479"/>
            <a:ext cx="36576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86199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Compliance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80559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MSP-HSE-08 § audit findings on traceability.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79"/>
            <a:ext cx="3657600" cy="2331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40479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886199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Knowledge silos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80559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Field engineers can't see status of their MOC.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Built on MSP-HSE-08 Procedure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1323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280160" cy="713232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2801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§ 3.4.1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5331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Initiation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64208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Originator raises MOC with description, justification,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11247120" cy="71323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1280160" cy="713232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12801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§ 3.4.2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13055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Risk Screening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41448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Annexure C/D1/D2 — Initial Risk, Classification, Risk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11247120" cy="71323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1280160" cy="713232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2801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§ 3.4.3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0779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Hierarchy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18688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Approval chains for Minor / Major-Capital / Major-NonCapital / Field Pkg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11247120" cy="71323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1280160" cy="713232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11880"/>
            <a:ext cx="12801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§ 3.4.4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8503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Detailed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995928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Stage-2 functional reviews &amp; Work Pack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9120"/>
            <a:ext cx="11247120" cy="71323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280160" cy="713232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12801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§ 3.4.5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46227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Execution &amp; Closure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73168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Implementation tracking, residual risk, close-out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66360"/>
            <a:ext cx="11247120" cy="71323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280160" cy="713232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66360"/>
            <a:ext cx="12801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§ 3.5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23951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Records &amp;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550408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Full digital trail, exportable Minute Sheet &amp; Audit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194560" cy="493776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499672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1031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Mari MOC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1828800" cy="310896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35808"/>
            <a:ext cx="1828800" cy="310896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MOC 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19856"/>
            <a:ext cx="1828800" cy="310896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9856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My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03904"/>
            <a:ext cx="1828800" cy="310896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03904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1828800" cy="310896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87952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1828800" cy="310896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280160"/>
            <a:ext cx="21031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1280160"/>
            <a:ext cx="109728" cy="12801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14173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Calibri"/>
              </a:rPr>
              <a:t>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057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Total MOCs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1280160"/>
            <a:ext cx="21031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74920" y="1280160"/>
            <a:ext cx="109728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14173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057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In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1280160"/>
            <a:ext cx="21031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1280160"/>
            <a:ext cx="109728" cy="12801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14173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2057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Approved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1280160"/>
            <a:ext cx="21031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1280160"/>
            <a:ext cx="109728" cy="1280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14173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DC2626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057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Rejected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2697480"/>
            <a:ext cx="8869680" cy="3520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27889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Recent MOC 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200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MOC #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200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Title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200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200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Stage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200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0" y="3566160"/>
            <a:ext cx="8686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0" y="3611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MOC-2026-014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611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Replace PSV-301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611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Major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3611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Stage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3611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 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3639312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36393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MOC-2026-013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Add temp bypass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Minor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Stage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Approved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0" y="4096512"/>
            <a:ext cx="914400" cy="2743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40965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480560"/>
            <a:ext cx="8686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MOC-2026-012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Pump impeller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Minor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Stage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 Review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4553712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0" y="45537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 Review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17520" y="4983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MOC-2026-011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4983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DCS logic edit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983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Major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4983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Stage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4983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Draft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01200" y="5010912"/>
            <a:ext cx="914400" cy="27432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0" y="50109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26080" y="5394960"/>
            <a:ext cx="8686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17520" y="54406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MOC-2026-010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54406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Insulation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4406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Field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54406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Closed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54406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Closed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01200" y="5468112"/>
            <a:ext cx="914400" cy="2743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1200" y="54681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Closed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 Core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Initiation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Web form for any engineer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463040"/>
            <a:ext cx="45720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46304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Annexure C/D1/D2 wizards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46304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46304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Risk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Initial &amp; residual risk matrices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1463040"/>
            <a:ext cx="4572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46304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Hierarchy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Auto-builds approval 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7180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154680"/>
            <a:ext cx="45720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15468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Delegation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4904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Assign to qualified subordinate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297180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3154680"/>
            <a:ext cx="45720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15468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Stage 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4904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Stage 1-4 with role-locked fields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97180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315468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315468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Annexure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74904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Auto-generated 3-page CRF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297180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18320" y="3154680"/>
            <a:ext cx="4572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315468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Minute Sheet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74904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PDF audit trail per MOC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66344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4846320"/>
            <a:ext cx="45720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484632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KPIs, timing, breakdowns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66344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66160" y="4846320"/>
            <a:ext cx="45720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484632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Audit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406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Director-level analytics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466344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92240" y="484632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6600" y="484632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4406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Inbox + email on action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5440" y="4663440"/>
            <a:ext cx="27432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18320" y="4846320"/>
            <a:ext cx="4572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12680" y="484632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Mobile 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4406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Responsive across devices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MOC Lifecycle — 4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Initiate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377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Originator fills request, attaches drawings, classifies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3291840"/>
            <a:ext cx="18288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743200" cy="6400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860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Review &amp;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377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Hierarchy chain reviews, comments, approves or rejects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26480" y="3291840"/>
            <a:ext cx="18288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274320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6304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2377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Approved MOC released for implementation under Work Pack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52560" y="3291840"/>
            <a:ext cx="18288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46304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463040"/>
            <a:ext cx="27432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46304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2860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Close-out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926080"/>
            <a:ext cx="2377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Residual risk, lessons learned, archive in audit 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Approval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1371600"/>
            <a:ext cx="3657600" cy="68580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047" y="1371600"/>
            <a:ext cx="3657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 Director Operations / Head EDP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1247" y="2148840"/>
            <a:ext cx="5029200" cy="6858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247" y="2148840"/>
            <a:ext cx="50292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 Process Ops / HSE /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5447" y="2926080"/>
            <a:ext cx="6400800" cy="6858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5447" y="2926080"/>
            <a:ext cx="6400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 MAI / MOC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9647" y="3703320"/>
            <a:ext cx="7772400" cy="6858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9647" y="3703320"/>
            <a:ext cx="77724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 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3847" y="4480560"/>
            <a:ext cx="9144000" cy="6858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3847" y="4480560"/>
            <a:ext cx="9144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Field In-Charge → Originator (JRE)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Each MOC is auto-routed up the chain. Approvals are forwarded; rejections return to originator with comments.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Minor vs Major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69280" cy="5029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669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669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MINOR (9 steps)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6596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Originator (JRE)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7744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Field In-Charge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889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0040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MOC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MAI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02336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Eng 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3484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43484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HSE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4632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846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Process 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5780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5780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25780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Director 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280160"/>
            <a:ext cx="5669280" cy="5029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280160"/>
            <a:ext cx="566928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280160"/>
            <a:ext cx="5669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MAJOR (10 steps)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196596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196596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196596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Originator (JRE)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237744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37744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237744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Field In-Charge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278892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78892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27889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Production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320040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20040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20040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MOC Interface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361188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61188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61188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MAI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02336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02336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02336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Eng Manager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443484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43484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443484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HSE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484632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84632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4846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Mgr Process Ops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5257800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525780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525780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Director HSE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0" y="5669279"/>
            <a:ext cx="411480" cy="3200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5669279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600" y="5669279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Director Ops / Head EDP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When the assigned approver is unavailable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Approver opens the MOC and clicks Delegate to Subordinate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System lists qualified direct reports (same dept or trained)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Selected subordinate receives the task in their inbox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Delegation is recorded permanently in the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Original chain continues from there — no skipping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371600"/>
            <a:ext cx="438912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4389120" cy="5486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371600"/>
            <a:ext cx="4389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Delegate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10312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Select subordinate: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514600"/>
            <a:ext cx="3840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51460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Asad — Field In-Charge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01752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01752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Tariq — Mgr Production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52044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5204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Bilal — Mgr MAI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754880"/>
            <a:ext cx="384048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75488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B2545"/>
                </a:solidFill>
                <a:latin typeface="Calibri"/>
              </a:rPr>
              <a:t>Confirm Delegation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Reject / Revision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1280160"/>
            <a:ext cx="914400" cy="9144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2801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Approver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6576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1280160"/>
            <a:ext cx="91440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2801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Marks 'Revision Required'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54480"/>
            <a:ext cx="36576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1280160"/>
            <a:ext cx="91440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28016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Comments captured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36576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3474719"/>
            <a:ext cx="914400" cy="914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474719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1999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Returns to Originator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49039"/>
            <a:ext cx="36576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0" y="3474719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474719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71999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Originator edits &amp; resubmits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49039"/>
            <a:ext cx="36576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3474719"/>
            <a:ext cx="914400" cy="9144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474719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71999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Chain restarts from Step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Stage Forms — Role-locked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645920" cy="10972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6459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Required fields: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Description, Justification, Drawings, Classification (Annex 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112471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645920" cy="109728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6459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974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Required fields: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6324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Risk Screening (D1), Risk Level (D2), Functional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16459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16459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31919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Required fields: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97679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Detailed Engineering, Work Pack, Execution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83480"/>
            <a:ext cx="112471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1645920" cy="10972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16459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1663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Required fields: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3212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Implementation Sign-off, Residual Risk, Lessons Learned, Close-out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Reports &amp;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6400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Annexure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38328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Official Mari Change Request Form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Page 1: CRF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Page 2: Stage-2 Engg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Page 3: Work Pack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Auto-populated from MOC data — preview &amp; 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657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Minute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338328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PDF audit trail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All approvers + timestamps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Comments at each step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Delegations captured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Status transitions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Downloaded from MOC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65760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Audit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94560"/>
            <a:ext cx="338328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Director-level analytics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KPIs: total, in-review, closed, expired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Avg closure time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Breakdowns by class, dept, risk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Activity timeline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Director Dashboard —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37160" cy="1371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Calibri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Total MOCs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13716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4630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In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137160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  <a:latin typeface="Calibri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Closed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280160"/>
            <a:ext cx="13716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4630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DC2626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Rejected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34639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34639"/>
            <a:ext cx="137160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1751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EA580C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0331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Expired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2834639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2834639"/>
            <a:ext cx="137160" cy="1371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01751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891B2"/>
                </a:solidFill>
                <a:latin typeface="Calibri"/>
              </a:rPr>
              <a:t>18d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70331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Avg Closure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834639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834639"/>
            <a:ext cx="137160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01751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  <a:latin typeface="Calibri"/>
              </a:rPr>
              <a:t>92%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70331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2834639"/>
            <a:ext cx="27432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2834639"/>
            <a:ext cx="137160" cy="1371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301751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70331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Pending Mine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572000"/>
            <a:ext cx="1124712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634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Calibri"/>
              </a:rPr>
              <a:t>MOCs by Department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OPS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63040" y="5102352"/>
            <a:ext cx="7772400" cy="164592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0352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ENG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5330952"/>
            <a:ext cx="5943600" cy="164592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HSE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63040" y="5559552"/>
            <a:ext cx="4114800" cy="16459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6072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MAI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3040" y="5788152"/>
            <a:ext cx="5029200" cy="1645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8932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EDP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63040" y="6016752"/>
            <a:ext cx="2743200" cy="16459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286000" cy="8686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2860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85953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Raise MOC, edit own drafts, view own MOCs, resubmit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4712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2286000" cy="86868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22860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85953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Review assigned MOCs, approve / reject / delegate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2286000" cy="868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2860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Department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00400"/>
            <a:ext cx="85953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All approver rights + dept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2286000" cy="8686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22860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60520"/>
            <a:ext cx="85953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All MOCs visible, audit report, executive KPIs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24712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2286000" cy="8686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22860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20640"/>
            <a:ext cx="85953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User mgmt, hierarchy config, system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4008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HTTPS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TLS 1.2+, Let's Encrypt auto-renew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1645920"/>
            <a:ext cx="640080" cy="6400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6916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JWT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Signed tokens, 7-day expiry, rotated 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1645920"/>
            <a:ext cx="640080" cy="64008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916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Bcrypt Passwords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Salted hashes, 12 rounds, never plaintext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605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Field-level locks, every endpoint authorized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4048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7720" y="4114800"/>
            <a:ext cx="640080" cy="6400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41605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93776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Immutable log: who, what, when, why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0" y="4114800"/>
            <a:ext cx="64008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1605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Daily Backups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3776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Automated DB dumps with off-site copy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74320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468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Vanilla JS SPA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No build step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Responsive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73152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468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Node.js 20 + Express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Sequelize ORM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JWT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743200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2468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MariaDB 10.5+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Fully relational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8 core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743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743200" cy="7315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37160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377440"/>
            <a:ext cx="2468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DirectAdmin / VPS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Nginx + pm2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Let's Encrypt TLS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447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Provision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VPS or DirectAdmin shared hosting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4447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Restore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2880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Import db_dump.sql via mysql / phpMyAdmin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14600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514600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6791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Configure .env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6324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DB creds, JWT_SECRET (rotate!), PUBLIC_URL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514600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514600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514600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6791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Install + 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npm install --production then pm2 / DirectAdmin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39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749039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13631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Frontend Static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297679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Copy frontend/ to public_html, point API_BASE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49039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3749039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749039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913631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TLS Certificate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97679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certbot --nginx -d mari.proflowenergy.org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83480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4983480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148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Smoke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53212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curl /api/mocs → 401 means API live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983480"/>
            <a:ext cx="5669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983480"/>
            <a:ext cx="822960" cy="10972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983480"/>
            <a:ext cx="8229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148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Daily Backups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53212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mysqldump cron → off-site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5486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Email + SMS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65760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630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Mobile native app (iOS/Android)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65760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SSO / Active Directory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57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Advanced analytics + ML risk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3192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3931920"/>
            <a:ext cx="3657600" cy="5486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75488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API for SAP / Maximo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3931920"/>
            <a:ext cx="3657600" cy="5486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75488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Multi-site rollout &amp; i18n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Anticipated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69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457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How long to deploy?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Bundle ready — under 1 day on existing infra.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669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457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4572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17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What if internet is down?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2024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Runs on internal LAN; offline bundle ships with full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5669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457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4572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0896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Can we customise the chain?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Yes — hierarchy is data-driven, edit per dept.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971800"/>
            <a:ext cx="5669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971800"/>
            <a:ext cx="457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4572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0896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How is data backed up?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61188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Daily mysqldump + off-site copy; restore in minutes.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5669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457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4572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006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Who owns the source code?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Mari Energies — full IP transfer with offline bundle.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663440"/>
            <a:ext cx="5669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4663440"/>
            <a:ext cx="457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663440"/>
            <a:ext cx="4572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8006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Can it integrate with SAP?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30352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Yes — REST API ready; on Q4 roadmap.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649574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Value &amp;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Calibri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Faster MOC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From weeks to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1E40AF"/>
                </a:solidFill>
                <a:latin typeface="Calibr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Audit trail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Every action logged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Calibri"/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Lost paperwork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Digital from Day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0891B2"/>
                </a:solidFill>
                <a:latin typeface="Calibri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Anywhere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Web + mobile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4048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02336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DC2626"/>
                </a:solidFill>
                <a:latin typeface="Calibri"/>
              </a:rPr>
              <a:t>MSP-HSE-08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9377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Full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3949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By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65760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0B2545"/>
                </a:solidFill>
                <a:latin typeface="Calibri"/>
              </a:rPr>
              <a:t>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Scalable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All sites, all classes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Mari Energies  |  MOC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822960"/>
            <a:ext cx="1399082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Calibri"/>
              </a:rPr>
              <a:t>mari.proflowenergy.org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MSP-HSE-08  |  Mari Energies MOC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